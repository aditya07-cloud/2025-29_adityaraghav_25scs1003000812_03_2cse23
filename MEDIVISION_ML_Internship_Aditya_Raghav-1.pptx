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23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66960" y="-1188720"/>
            <a:ext cx="3840480" cy="3840480"/>
          </a:xfrm>
          <a:prstGeom prst="ellipse">
            <a:avLst/>
          </a:prstGeom>
          <a:solidFill>
            <a:srgbClr val="028090">
              <a:alpha val="3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280160" y="4754880"/>
            <a:ext cx="3291840" cy="3291840"/>
          </a:xfrm>
          <a:prstGeom prst="ellipse">
            <a:avLst/>
          </a:prstGeom>
          <a:solidFill>
            <a:srgbClr val="02C39A">
              <a:alpha val="2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777240" y="411480"/>
            <a:ext cx="105156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/>
        </p:spPr>
      </p:sp>
      <p:pic>
        <p:nvPicPr>
          <p:cNvPr id="5" name="Image 0" descr="/home/claude/iilm_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1248" y="475488"/>
            <a:ext cx="923544" cy="92354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2960" y="169164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INTERNSHIP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822960" y="2148840"/>
            <a:ext cx="10515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MEDIVISION</a:t>
            </a:r>
            <a:endParaRPr lang="en-US" sz="5400" dirty="0"/>
          </a:p>
        </p:txBody>
      </p:sp>
      <p:sp>
        <p:nvSpPr>
          <p:cNvPr id="8" name="Text 5"/>
          <p:cNvSpPr/>
          <p:nvPr/>
        </p:nvSpPr>
        <p:spPr>
          <a:xfrm>
            <a:off x="822960" y="3063240"/>
            <a:ext cx="96926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800" i="1" dirty="0">
                <a:solidFill>
                  <a:srgbClr val="F4F7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Intelligent Machine Learning Based Disease Prediction &amp;</a:t>
            </a:r>
            <a:endParaRPr lang="en-US" sz="18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800" i="1" dirty="0">
                <a:solidFill>
                  <a:srgbClr val="F4F7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Healthcare Analytics Platform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822960" y="4114800"/>
            <a:ext cx="2011680" cy="0"/>
          </a:xfrm>
          <a:prstGeom prst="line">
            <a:avLst/>
          </a:prstGeom>
          <a:noFill/>
          <a:ln w="31750">
            <a:solidFill>
              <a:srgbClr val="02C39A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22960" y="4343400"/>
            <a:ext cx="73152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Aditya Raghav</a:t>
            </a:r>
            <a:endParaRPr lang="en-US" sz="1800" dirty="0"/>
          </a:p>
          <a:p>
            <a:pPr indent="0" marL="0">
              <a:buNone/>
            </a:pPr>
            <a:r>
              <a:rPr lang="en-US" sz="1300" dirty="0">
                <a:solidFill>
                  <a:srgbClr val="F4F7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 No: 25SCS1003000812   |   Section: 2CSE23</a:t>
            </a:r>
            <a:endParaRPr lang="en-US" sz="1800" dirty="0"/>
          </a:p>
          <a:p>
            <a:pPr indent="0" marL="0">
              <a:buNone/>
            </a:pPr>
            <a:r>
              <a:rPr lang="en-US" sz="1300" dirty="0">
                <a:solidFill>
                  <a:srgbClr val="F4F7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B.Tech CSE, IILM University, Greater Noida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822960" y="626364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Codec Technologies Pvt. Ltd.  •  National Internship Portal (AICTE &amp; ICAC)  •  Google for Education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2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Introduction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9692640" y="457200"/>
            <a:ext cx="2011680" cy="2011680"/>
          </a:xfrm>
          <a:prstGeom prst="ellipse">
            <a:avLst/>
          </a:prstGeom>
          <a:solidFill>
            <a:srgbClr val="F4F7F7"/>
          </a:solidFill>
          <a:ln/>
        </p:spPr>
      </p:sp>
      <p:sp>
        <p:nvSpPr>
          <p:cNvPr id="4" name="Text 2"/>
          <p:cNvSpPr/>
          <p:nvPr/>
        </p:nvSpPr>
        <p:spPr>
          <a:xfrm>
            <a:off x="9692640" y="457200"/>
            <a:ext cx="201168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ML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548640" y="1417320"/>
            <a:ext cx="8778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one-month internship (12th July – 12th August 2026) completed remotely at Codec Technologies Pvt. Ltd. under the AICTE &amp; ICAC approved National Internship Portal, as a Machine Learning Intern.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2606040"/>
            <a:ext cx="3566160" cy="3063240"/>
          </a:xfrm>
          <a:prstGeom prst="roundRect">
            <a:avLst>
              <a:gd name="adj" fmla="val 2985"/>
            </a:avLst>
          </a:prstGeom>
          <a:solidFill>
            <a:srgbClr val="F4F7F7"/>
          </a:solidFill>
          <a:ln/>
          <a:effectLst>
            <a:outerShdw sx="100000" sy="100000" kx="0" ky="0" algn="bl" rotWithShape="0" blurRad="76200" dist="25400" dir="5400000">
              <a:srgbClr val="888888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22960" y="2880360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28803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822960" y="3520440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2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822960" y="3977640"/>
            <a:ext cx="30175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Contributed to MEDIVISION — a disease prediction &amp; healthcare analytics platform.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343400" y="2606040"/>
            <a:ext cx="3566160" cy="3063240"/>
          </a:xfrm>
          <a:prstGeom prst="roundRect">
            <a:avLst>
              <a:gd name="adj" fmla="val 2985"/>
            </a:avLst>
          </a:prstGeom>
          <a:solidFill>
            <a:srgbClr val="F4F7F7"/>
          </a:solidFill>
          <a:ln/>
          <a:effectLst>
            <a:outerShdw sx="100000" sy="100000" kx="0" ky="0" algn="bl" rotWithShape="0" blurRad="76200" dist="25400" dir="5400000">
              <a:srgbClr val="888888">
                <a:alpha val="2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617720" y="2880360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3" name="Text 11"/>
          <p:cNvSpPr/>
          <p:nvPr/>
        </p:nvSpPr>
        <p:spPr>
          <a:xfrm>
            <a:off x="4617720" y="28803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4617720" y="3520440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2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Role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4617720" y="3977640"/>
            <a:ext cx="30175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preprocessing, model building, evaluation, and interface development.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8138160" y="2606040"/>
            <a:ext cx="3566160" cy="3063240"/>
          </a:xfrm>
          <a:prstGeom prst="roundRect">
            <a:avLst>
              <a:gd name="adj" fmla="val 2985"/>
            </a:avLst>
          </a:prstGeom>
          <a:solidFill>
            <a:srgbClr val="F4F7F7"/>
          </a:solidFill>
          <a:ln/>
          <a:effectLst>
            <a:outerShdw sx="100000" sy="100000" kx="0" ky="0" algn="bl" rotWithShape="0" blurRad="76200" dist="25400" dir="5400000">
              <a:srgbClr val="888888">
                <a:alpha val="2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412480" y="2880360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8" name="Text 16"/>
          <p:cNvSpPr/>
          <p:nvPr/>
        </p:nvSpPr>
        <p:spPr>
          <a:xfrm>
            <a:off x="8412480" y="28803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8412480" y="3520440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2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Outcome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8412480" y="3977640"/>
            <a:ext cx="30175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exposure to end-to-end applied ML and data engineering.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223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Organization Profile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10332720" y="-822960"/>
            <a:ext cx="2926080" cy="2926080"/>
          </a:xfrm>
          <a:prstGeom prst="ellipse">
            <a:avLst/>
          </a:prstGeom>
          <a:solidFill>
            <a:srgbClr val="028090">
              <a:alpha val="3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Codec Technologies Pvt. Ltd.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548640" y="1874520"/>
            <a:ext cx="66751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F4F7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technology training and product-engineering unit developing student-facing and enterprise-grade learning solutions — operating in association with the National Internship Portal and recognised under AICTE &amp; ICAC approval, delivering its Machine Learning track with Google for Education.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94360" y="3593592"/>
            <a:ext cx="109728" cy="10972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3447288"/>
            <a:ext cx="5943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Application Development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94360" y="4050792"/>
            <a:ext cx="109728" cy="10972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9" name="Text 7"/>
          <p:cNvSpPr/>
          <p:nvPr/>
        </p:nvSpPr>
        <p:spPr>
          <a:xfrm>
            <a:off x="868680" y="3904488"/>
            <a:ext cx="5943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Analytics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94360" y="4507992"/>
            <a:ext cx="109728" cy="10972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1" name="Text 9"/>
          <p:cNvSpPr/>
          <p:nvPr/>
        </p:nvSpPr>
        <p:spPr>
          <a:xfrm>
            <a:off x="868680" y="4361688"/>
            <a:ext cx="5943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Automation Engineering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94360" y="4965192"/>
            <a:ext cx="109728" cy="10972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3" name="Text 11"/>
          <p:cNvSpPr/>
          <p:nvPr/>
        </p:nvSpPr>
        <p:spPr>
          <a:xfrm>
            <a:off x="868680" y="4818888"/>
            <a:ext cx="5943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Machine Learning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7680960" y="1371600"/>
            <a:ext cx="3931920" cy="4023360"/>
          </a:xfrm>
          <a:prstGeom prst="roundRect">
            <a:avLst>
              <a:gd name="adj" fmla="val 2791"/>
            </a:avLst>
          </a:prstGeom>
          <a:solidFill>
            <a:srgbClr val="1B3654"/>
          </a:solidFill>
          <a:ln/>
        </p:spPr>
      </p:sp>
      <p:sp>
        <p:nvSpPr>
          <p:cNvPr id="15" name="Text 13"/>
          <p:cNvSpPr/>
          <p:nvPr/>
        </p:nvSpPr>
        <p:spPr>
          <a:xfrm>
            <a:off x="7955280" y="160020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Internship Snapshot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7955280" y="210312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9189720" y="210312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Month (12 Jul – 12 Aug 2026)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7955280" y="2633472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9189720" y="2633472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Remote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7955280" y="3163824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9189720" y="3163824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7955280" y="3694176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Approval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9189720" y="3694176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AICTE &amp; ICAC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7955280" y="4224528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9189720" y="4224528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for Education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7955280" y="475488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Mentor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9189720" y="475488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Anurag Shrivastava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2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5212080" cy="4389120"/>
          </a:xfrm>
          <a:prstGeom prst="roundRect">
            <a:avLst>
              <a:gd name="adj" fmla="val 2083"/>
            </a:avLst>
          </a:prstGeom>
          <a:solidFill>
            <a:srgbClr val="FDEDEC"/>
          </a:solidFill>
          <a:ln/>
        </p:spPr>
      </p:sp>
      <p:sp>
        <p:nvSpPr>
          <p:cNvPr id="4" name="Shape 2"/>
          <p:cNvSpPr/>
          <p:nvPr/>
        </p:nvSpPr>
        <p:spPr>
          <a:xfrm>
            <a:off x="868680" y="1737360"/>
            <a:ext cx="548640" cy="548640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7373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600200" y="178308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922B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Gap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68680" y="2423160"/>
            <a:ext cx="45720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detection of common lifestyle and chronic diseases is critical, yet most individuals lack easy access to quick, preliminary health-risk assessments without visiting a doctor or undergoing expensive diagnostic tests.</a:t>
            </a:r>
            <a:endParaRPr lang="en-US" sz="1350" dirty="0"/>
          </a:p>
          <a:p>
            <a:pPr indent="0" marL="0">
              <a:lnSpc>
                <a:spcPct val="130000"/>
              </a:lnSpc>
              <a:buNone/>
            </a:pPr>
            <a:endParaRPr lang="en-US" sz="13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digital health tools are either too generic to give meaningful insight, or too complex for an everyday, non-technical user.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035040" y="1417320"/>
            <a:ext cx="5577840" cy="4389120"/>
          </a:xfrm>
          <a:prstGeom prst="roundRect">
            <a:avLst>
              <a:gd name="adj" fmla="val 2083"/>
            </a:avLst>
          </a:prstGeom>
          <a:solidFill>
            <a:srgbClr val="EAF7F4"/>
          </a:solidFill>
          <a:ln/>
        </p:spPr>
      </p:sp>
      <p:sp>
        <p:nvSpPr>
          <p:cNvPr id="9" name="Shape 7"/>
          <p:cNvSpPr/>
          <p:nvPr/>
        </p:nvSpPr>
        <p:spPr>
          <a:xfrm>
            <a:off x="6355080" y="1737360"/>
            <a:ext cx="548640" cy="54864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0" name="Text 8"/>
          <p:cNvSpPr/>
          <p:nvPr/>
        </p:nvSpPr>
        <p:spPr>
          <a:xfrm>
            <a:off x="6355080" y="17373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7086600" y="178308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53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Objective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355080" y="2423160"/>
            <a:ext cx="4937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and develop MEDIVISION — a machine learning based healthcare analytics platform that: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400800" y="3236976"/>
            <a:ext cx="100584" cy="100584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4" name="Text 12"/>
          <p:cNvSpPr/>
          <p:nvPr/>
        </p:nvSpPr>
        <p:spPr>
          <a:xfrm>
            <a:off x="6629400" y="3081528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Allows users to input basic health parameters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400800" y="3739896"/>
            <a:ext cx="100584" cy="100584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6" name="Text 14"/>
          <p:cNvSpPr/>
          <p:nvPr/>
        </p:nvSpPr>
        <p:spPr>
          <a:xfrm>
            <a:off x="6629400" y="3584448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Delivers automated preliminary risk predictions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400800" y="4242816"/>
            <a:ext cx="100584" cy="100584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8" name="Text 16"/>
          <p:cNvSpPr/>
          <p:nvPr/>
        </p:nvSpPr>
        <p:spPr>
          <a:xfrm>
            <a:off x="6629400" y="4087368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Surfaces clear, actionable insights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400800" y="4745736"/>
            <a:ext cx="100584" cy="100584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20" name="Text 18"/>
          <p:cNvSpPr/>
          <p:nvPr/>
        </p:nvSpPr>
        <p:spPr>
          <a:xfrm>
            <a:off x="6629400" y="4590288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Requires no technical or medical background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2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Objectives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5349240" cy="713232"/>
          </a:xfrm>
          <a:prstGeom prst="roundRect">
            <a:avLst>
              <a:gd name="adj" fmla="val 10256"/>
            </a:avLst>
          </a:prstGeom>
          <a:solidFill>
            <a:srgbClr val="F4F7F7"/>
          </a:solidFill>
          <a:ln/>
        </p:spPr>
      </p:sp>
      <p:sp>
        <p:nvSpPr>
          <p:cNvPr id="4" name="Shape 2"/>
          <p:cNvSpPr/>
          <p:nvPr/>
        </p:nvSpPr>
        <p:spPr>
          <a:xfrm>
            <a:off x="713232" y="1499616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5" name="Text 3"/>
          <p:cNvSpPr/>
          <p:nvPr/>
        </p:nvSpPr>
        <p:spPr>
          <a:xfrm>
            <a:off x="713232" y="149961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325880" y="1371600"/>
            <a:ext cx="43891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the workflow of a real, product-oriented ML engineering team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172200" y="1371600"/>
            <a:ext cx="5349240" cy="713232"/>
          </a:xfrm>
          <a:prstGeom prst="roundRect">
            <a:avLst>
              <a:gd name="adj" fmla="val 10256"/>
            </a:avLst>
          </a:prstGeom>
          <a:solidFill>
            <a:srgbClr val="F4F7F7"/>
          </a:solidFill>
          <a:ln/>
        </p:spPr>
      </p:sp>
      <p:sp>
        <p:nvSpPr>
          <p:cNvPr id="8" name="Shape 6"/>
          <p:cNvSpPr/>
          <p:nvPr/>
        </p:nvSpPr>
        <p:spPr>
          <a:xfrm>
            <a:off x="6336792" y="1499616"/>
            <a:ext cx="457200" cy="45720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9" name="Text 7"/>
          <p:cNvSpPr/>
          <p:nvPr/>
        </p:nvSpPr>
        <p:spPr>
          <a:xfrm>
            <a:off x="6336792" y="149961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949440" y="1371600"/>
            <a:ext cx="43891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robust data-preprocessing pipeline for healthcare datasets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48640" y="2221992"/>
            <a:ext cx="5349240" cy="713232"/>
          </a:xfrm>
          <a:prstGeom prst="roundRect">
            <a:avLst>
              <a:gd name="adj" fmla="val 10256"/>
            </a:avLst>
          </a:prstGeom>
          <a:solidFill>
            <a:srgbClr val="F4F7F7"/>
          </a:solidFill>
          <a:ln/>
        </p:spPr>
      </p:sp>
      <p:sp>
        <p:nvSpPr>
          <p:cNvPr id="12" name="Shape 10"/>
          <p:cNvSpPr/>
          <p:nvPr/>
        </p:nvSpPr>
        <p:spPr>
          <a:xfrm>
            <a:off x="713232" y="2350008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3" name="Text 11"/>
          <p:cNvSpPr/>
          <p:nvPr/>
        </p:nvSpPr>
        <p:spPr>
          <a:xfrm>
            <a:off x="713232" y="235000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325880" y="2221992"/>
            <a:ext cx="43891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and evaluate supervised ML models for disease risk prediction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172200" y="2221992"/>
            <a:ext cx="5349240" cy="713232"/>
          </a:xfrm>
          <a:prstGeom prst="roundRect">
            <a:avLst>
              <a:gd name="adj" fmla="val 10256"/>
            </a:avLst>
          </a:prstGeom>
          <a:solidFill>
            <a:srgbClr val="F4F7F7"/>
          </a:solidFill>
          <a:ln/>
        </p:spPr>
      </p:sp>
      <p:sp>
        <p:nvSpPr>
          <p:cNvPr id="16" name="Shape 14"/>
          <p:cNvSpPr/>
          <p:nvPr/>
        </p:nvSpPr>
        <p:spPr>
          <a:xfrm>
            <a:off x="6336792" y="2350008"/>
            <a:ext cx="457200" cy="45720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7" name="Text 15"/>
          <p:cNvSpPr/>
          <p:nvPr/>
        </p:nvSpPr>
        <p:spPr>
          <a:xfrm>
            <a:off x="6336792" y="235000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949440" y="2221992"/>
            <a:ext cx="43891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model performance using accuracy, precision, recall &amp; F1-score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48640" y="3072384"/>
            <a:ext cx="5349240" cy="713232"/>
          </a:xfrm>
          <a:prstGeom prst="roundRect">
            <a:avLst>
              <a:gd name="adj" fmla="val 10256"/>
            </a:avLst>
          </a:prstGeom>
          <a:solidFill>
            <a:srgbClr val="F4F7F7"/>
          </a:solidFill>
          <a:ln/>
        </p:spPr>
      </p:sp>
      <p:sp>
        <p:nvSpPr>
          <p:cNvPr id="20" name="Shape 18"/>
          <p:cNvSpPr/>
          <p:nvPr/>
        </p:nvSpPr>
        <p:spPr>
          <a:xfrm>
            <a:off x="713232" y="3200400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1" name="Text 19"/>
          <p:cNvSpPr/>
          <p:nvPr/>
        </p:nvSpPr>
        <p:spPr>
          <a:xfrm>
            <a:off x="713232" y="32004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325880" y="3072384"/>
            <a:ext cx="43891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 the trained model into a functional prediction application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6172200" y="3072384"/>
            <a:ext cx="5349240" cy="713232"/>
          </a:xfrm>
          <a:prstGeom prst="roundRect">
            <a:avLst>
              <a:gd name="adj" fmla="val 10256"/>
            </a:avLst>
          </a:prstGeom>
          <a:solidFill>
            <a:srgbClr val="F4F7F7"/>
          </a:solidFill>
          <a:ln/>
        </p:spPr>
      </p:sp>
      <p:sp>
        <p:nvSpPr>
          <p:cNvPr id="24" name="Shape 22"/>
          <p:cNvSpPr/>
          <p:nvPr/>
        </p:nvSpPr>
        <p:spPr>
          <a:xfrm>
            <a:off x="6336792" y="3200400"/>
            <a:ext cx="457200" cy="45720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25" name="Text 23"/>
          <p:cNvSpPr/>
          <p:nvPr/>
        </p:nvSpPr>
        <p:spPr>
          <a:xfrm>
            <a:off x="6336792" y="32004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6949440" y="3072384"/>
            <a:ext cx="43891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a Tkinter-based graphical interface for real-time prediction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548640" y="3922776"/>
            <a:ext cx="5349240" cy="713232"/>
          </a:xfrm>
          <a:prstGeom prst="roundRect">
            <a:avLst>
              <a:gd name="adj" fmla="val 10256"/>
            </a:avLst>
          </a:prstGeom>
          <a:solidFill>
            <a:srgbClr val="F4F7F7"/>
          </a:solidFill>
          <a:ln/>
        </p:spPr>
      </p:sp>
      <p:sp>
        <p:nvSpPr>
          <p:cNvPr id="28" name="Shape 26"/>
          <p:cNvSpPr/>
          <p:nvPr/>
        </p:nvSpPr>
        <p:spPr>
          <a:xfrm>
            <a:off x="713232" y="4050792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9" name="Text 27"/>
          <p:cNvSpPr/>
          <p:nvPr/>
        </p:nvSpPr>
        <p:spPr>
          <a:xfrm>
            <a:off x="713232" y="405079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1325880" y="3922776"/>
            <a:ext cx="43891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 clean code &amp; collaborative development using Git &amp; GitHub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223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371600"/>
            <a:ext cx="3657600" cy="3657600"/>
          </a:xfrm>
          <a:prstGeom prst="ellipse">
            <a:avLst/>
          </a:prstGeom>
          <a:solidFill>
            <a:srgbClr val="028090">
              <a:alpha val="3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Scope of the Project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F4F7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internship supported the design and development of MEDIVISION — Codec Technologies' healthcare analytics platform — through the effective use of Python, machine learning libraries, and data-visualization tools.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68096" y="2743200"/>
            <a:ext cx="2286000" cy="1463040"/>
          </a:xfrm>
          <a:prstGeom prst="roundRect">
            <a:avLst>
              <a:gd name="adj" fmla="val 6250"/>
            </a:avLst>
          </a:prstGeom>
          <a:solidFill>
            <a:srgbClr val="1B3654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68096" y="2743200"/>
            <a:ext cx="22860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Pipeline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054096" y="2743200"/>
            <a:ext cx="5029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3557016" y="2743200"/>
            <a:ext cx="2286000" cy="1463040"/>
          </a:xfrm>
          <a:prstGeom prst="roundRect">
            <a:avLst>
              <a:gd name="adj" fmla="val 6250"/>
            </a:avLst>
          </a:prstGeom>
          <a:solidFill>
            <a:srgbClr val="1B3654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557016" y="2743200"/>
            <a:ext cx="22860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Training</a:t>
            </a:r>
            <a:endParaRPr lang="en-US" sz="14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Evaluation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843016" y="2743200"/>
            <a:ext cx="5029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6345936" y="2743200"/>
            <a:ext cx="2286000" cy="1463040"/>
          </a:xfrm>
          <a:prstGeom prst="roundRect">
            <a:avLst>
              <a:gd name="adj" fmla="val 6250"/>
            </a:avLst>
          </a:prstGeom>
          <a:solidFill>
            <a:srgbClr val="1B3654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345936" y="2743200"/>
            <a:ext cx="22860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</a:t>
            </a:r>
            <a:endParaRPr lang="en-US" sz="14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631936" y="2743200"/>
            <a:ext cx="5029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9134856" y="2743200"/>
            <a:ext cx="2286000" cy="1463040"/>
          </a:xfrm>
          <a:prstGeom prst="roundRect">
            <a:avLst>
              <a:gd name="adj" fmla="val 6250"/>
            </a:avLst>
          </a:prstGeom>
          <a:solidFill>
            <a:srgbClr val="1B3654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34856" y="2743200"/>
            <a:ext cx="22860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14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22960" y="4709160"/>
            <a:ext cx="10515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350" i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Demonstrates how thoughtful use of machine learning, data analysis, and automation can turn a routine, manual task — preliminary health risk assessment — into an intelligent, insight-driven experience.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2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Technologies &amp; Tools Used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2084832" cy="4297680"/>
          </a:xfrm>
          <a:prstGeom prst="roundRect">
            <a:avLst>
              <a:gd name="adj" fmla="val 4386"/>
            </a:avLst>
          </a:prstGeom>
          <a:solidFill>
            <a:srgbClr val="F4F7F7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417320"/>
            <a:ext cx="2084832" cy="137160"/>
          </a:xfrm>
          <a:prstGeom prst="roundRect">
            <a:avLst/>
          </a:prstGeom>
          <a:solidFill>
            <a:srgbClr val="F4F7F7"/>
          </a:solidFill>
          <a:ln/>
        </p:spPr>
      </p:sp>
      <p:sp>
        <p:nvSpPr>
          <p:cNvPr id="5" name="Shape 3"/>
          <p:cNvSpPr/>
          <p:nvPr/>
        </p:nvSpPr>
        <p:spPr>
          <a:xfrm>
            <a:off x="1339596" y="1691640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6" name="Text 4"/>
          <p:cNvSpPr/>
          <p:nvPr/>
        </p:nvSpPr>
        <p:spPr>
          <a:xfrm>
            <a:off x="1339596" y="16916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40080" y="2331720"/>
            <a:ext cx="190195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12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Core Language &amp; Data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31520" y="3017520"/>
            <a:ext cx="1719072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05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</a:t>
            </a:r>
            <a:endParaRPr lang="en-US" sz="105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05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 &amp; NumPy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798064" y="1417320"/>
            <a:ext cx="2084832" cy="4297680"/>
          </a:xfrm>
          <a:prstGeom prst="roundRect">
            <a:avLst>
              <a:gd name="adj" fmla="val 4386"/>
            </a:avLst>
          </a:prstGeom>
          <a:solidFill>
            <a:srgbClr val="F4F7F7"/>
          </a:solidFill>
          <a:ln/>
        </p:spPr>
      </p:sp>
      <p:sp>
        <p:nvSpPr>
          <p:cNvPr id="10" name="Shape 8"/>
          <p:cNvSpPr/>
          <p:nvPr/>
        </p:nvSpPr>
        <p:spPr>
          <a:xfrm>
            <a:off x="2798064" y="1417320"/>
            <a:ext cx="2084832" cy="137160"/>
          </a:xfrm>
          <a:prstGeom prst="roundRect">
            <a:avLst/>
          </a:prstGeom>
          <a:solidFill>
            <a:srgbClr val="F4F7F7"/>
          </a:solidFill>
          <a:ln/>
        </p:spPr>
      </p:sp>
      <p:sp>
        <p:nvSpPr>
          <p:cNvPr id="11" name="Shape 9"/>
          <p:cNvSpPr/>
          <p:nvPr/>
        </p:nvSpPr>
        <p:spPr>
          <a:xfrm>
            <a:off x="3589020" y="1691640"/>
            <a:ext cx="502920" cy="50292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2" name="Text 10"/>
          <p:cNvSpPr/>
          <p:nvPr/>
        </p:nvSpPr>
        <p:spPr>
          <a:xfrm>
            <a:off x="3589020" y="16916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2889504" y="2331720"/>
            <a:ext cx="190195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12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Machine Learning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980944" y="3017520"/>
            <a:ext cx="1719072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05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Scikit-learn</a:t>
            </a:r>
            <a:endParaRPr lang="en-US" sz="105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05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Regression, Decision Tree, Random Forest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047488" y="1417320"/>
            <a:ext cx="2084832" cy="4297680"/>
          </a:xfrm>
          <a:prstGeom prst="roundRect">
            <a:avLst>
              <a:gd name="adj" fmla="val 4386"/>
            </a:avLst>
          </a:prstGeom>
          <a:solidFill>
            <a:srgbClr val="F4F7F7"/>
          </a:solidFill>
          <a:ln/>
        </p:spPr>
      </p:sp>
      <p:sp>
        <p:nvSpPr>
          <p:cNvPr id="16" name="Shape 14"/>
          <p:cNvSpPr/>
          <p:nvPr/>
        </p:nvSpPr>
        <p:spPr>
          <a:xfrm>
            <a:off x="5047488" y="1417320"/>
            <a:ext cx="2084832" cy="137160"/>
          </a:xfrm>
          <a:prstGeom prst="roundRect">
            <a:avLst/>
          </a:prstGeom>
          <a:solidFill>
            <a:srgbClr val="F4F7F7"/>
          </a:solidFill>
          <a:ln/>
        </p:spPr>
      </p:sp>
      <p:sp>
        <p:nvSpPr>
          <p:cNvPr id="17" name="Shape 15"/>
          <p:cNvSpPr/>
          <p:nvPr/>
        </p:nvSpPr>
        <p:spPr>
          <a:xfrm>
            <a:off x="5838444" y="1691640"/>
            <a:ext cx="502920" cy="50292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8" name="Text 16"/>
          <p:cNvSpPr/>
          <p:nvPr/>
        </p:nvSpPr>
        <p:spPr>
          <a:xfrm>
            <a:off x="5838444" y="16916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5138928" y="2331720"/>
            <a:ext cx="190195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12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Visualization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230368" y="3017520"/>
            <a:ext cx="1719072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05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Matplotlib</a:t>
            </a:r>
            <a:endParaRPr lang="en-US" sz="105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05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Seaborn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7296912" y="1417320"/>
            <a:ext cx="2084832" cy="4297680"/>
          </a:xfrm>
          <a:prstGeom prst="roundRect">
            <a:avLst>
              <a:gd name="adj" fmla="val 4386"/>
            </a:avLst>
          </a:prstGeom>
          <a:solidFill>
            <a:srgbClr val="F4F7F7"/>
          </a:solidFill>
          <a:ln/>
        </p:spPr>
      </p:sp>
      <p:sp>
        <p:nvSpPr>
          <p:cNvPr id="22" name="Shape 20"/>
          <p:cNvSpPr/>
          <p:nvPr/>
        </p:nvSpPr>
        <p:spPr>
          <a:xfrm>
            <a:off x="7296912" y="1417320"/>
            <a:ext cx="2084832" cy="137160"/>
          </a:xfrm>
          <a:prstGeom prst="roundRect">
            <a:avLst/>
          </a:prstGeom>
          <a:solidFill>
            <a:srgbClr val="F4F7F7"/>
          </a:solidFill>
          <a:ln/>
        </p:spPr>
      </p:sp>
      <p:sp>
        <p:nvSpPr>
          <p:cNvPr id="23" name="Shape 21"/>
          <p:cNvSpPr/>
          <p:nvPr/>
        </p:nvSpPr>
        <p:spPr>
          <a:xfrm>
            <a:off x="8087868" y="1691640"/>
            <a:ext cx="502920" cy="502920"/>
          </a:xfrm>
          <a:prstGeom prst="ellipse">
            <a:avLst/>
          </a:prstGeom>
          <a:solidFill>
            <a:srgbClr val="0B7A75"/>
          </a:solidFill>
          <a:ln/>
        </p:spPr>
      </p:sp>
      <p:sp>
        <p:nvSpPr>
          <p:cNvPr id="24" name="Text 22"/>
          <p:cNvSpPr/>
          <p:nvPr/>
        </p:nvSpPr>
        <p:spPr>
          <a:xfrm>
            <a:off x="8087868" y="16916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7388352" y="2331720"/>
            <a:ext cx="190195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12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Interface &amp; Storage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7479792" y="3017520"/>
            <a:ext cx="1719072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05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Tkinter GUI</a:t>
            </a:r>
            <a:endParaRPr lang="en-US" sz="105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05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CSV-based local storage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9546336" y="1417320"/>
            <a:ext cx="2084832" cy="4297680"/>
          </a:xfrm>
          <a:prstGeom prst="roundRect">
            <a:avLst>
              <a:gd name="adj" fmla="val 4386"/>
            </a:avLst>
          </a:prstGeom>
          <a:solidFill>
            <a:srgbClr val="F4F7F7"/>
          </a:solidFill>
          <a:ln/>
        </p:spPr>
      </p:sp>
      <p:sp>
        <p:nvSpPr>
          <p:cNvPr id="28" name="Shape 26"/>
          <p:cNvSpPr/>
          <p:nvPr/>
        </p:nvSpPr>
        <p:spPr>
          <a:xfrm>
            <a:off x="9546336" y="1417320"/>
            <a:ext cx="2084832" cy="137160"/>
          </a:xfrm>
          <a:prstGeom prst="roundRect">
            <a:avLst/>
          </a:prstGeom>
          <a:solidFill>
            <a:srgbClr val="F4F7F7"/>
          </a:solidFill>
          <a:ln/>
        </p:spPr>
      </p:sp>
      <p:sp>
        <p:nvSpPr>
          <p:cNvPr id="29" name="Shape 27"/>
          <p:cNvSpPr/>
          <p:nvPr/>
        </p:nvSpPr>
        <p:spPr>
          <a:xfrm>
            <a:off x="10337292" y="1691640"/>
            <a:ext cx="502920" cy="502920"/>
          </a:xfrm>
          <a:prstGeom prst="ellipse">
            <a:avLst/>
          </a:prstGeom>
          <a:solidFill>
            <a:srgbClr val="045D5D"/>
          </a:solidFill>
          <a:ln/>
        </p:spPr>
      </p:sp>
      <p:sp>
        <p:nvSpPr>
          <p:cNvPr id="30" name="Text 28"/>
          <p:cNvSpPr/>
          <p:nvPr/>
        </p:nvSpPr>
        <p:spPr>
          <a:xfrm>
            <a:off x="10337292" y="16916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000" dirty="0"/>
          </a:p>
        </p:txBody>
      </p:sp>
      <p:sp>
        <p:nvSpPr>
          <p:cNvPr id="31" name="Text 29"/>
          <p:cNvSpPr/>
          <p:nvPr/>
        </p:nvSpPr>
        <p:spPr>
          <a:xfrm>
            <a:off x="9637776" y="2331720"/>
            <a:ext cx="190195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12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Collaboration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9729216" y="3017520"/>
            <a:ext cx="1719072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05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&amp; GitHub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Architecture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1737360" y="1143000"/>
            <a:ext cx="8778240" cy="566928"/>
          </a:xfrm>
          <a:prstGeom prst="roundRect">
            <a:avLst>
              <a:gd name="adj" fmla="val 12903"/>
            </a:avLst>
          </a:prstGeom>
          <a:solidFill>
            <a:srgbClr val="028090"/>
          </a:solidFill>
          <a:ln/>
        </p:spPr>
      </p:sp>
      <p:sp>
        <p:nvSpPr>
          <p:cNvPr id="4" name="Text 2"/>
          <p:cNvSpPr/>
          <p:nvPr/>
        </p:nvSpPr>
        <p:spPr>
          <a:xfrm>
            <a:off x="1965960" y="1143000"/>
            <a:ext cx="2743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Layer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800600" y="1143000"/>
            <a:ext cx="54864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Tkinter form for entering patient health parameters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943600" y="169164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1737360" y="1801368"/>
            <a:ext cx="8778240" cy="566928"/>
          </a:xfrm>
          <a:prstGeom prst="roundRect">
            <a:avLst>
              <a:gd name="adj" fmla="val 12903"/>
            </a:avLst>
          </a:prstGeom>
          <a:solidFill>
            <a:srgbClr val="00A896"/>
          </a:solidFill>
          <a:ln/>
        </p:spPr>
      </p:sp>
      <p:sp>
        <p:nvSpPr>
          <p:cNvPr id="8" name="Text 6"/>
          <p:cNvSpPr/>
          <p:nvPr/>
        </p:nvSpPr>
        <p:spPr>
          <a:xfrm>
            <a:off x="1965960" y="1801368"/>
            <a:ext cx="2743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Preprocessing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800600" y="1801368"/>
            <a:ext cx="54864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Cleaning, encoding, normalisation using Pandas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943600" y="2350008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1737360" y="2459736"/>
            <a:ext cx="8778240" cy="566928"/>
          </a:xfrm>
          <a:prstGeom prst="roundRect">
            <a:avLst>
              <a:gd name="adj" fmla="val 12903"/>
            </a:avLst>
          </a:prstGeom>
          <a:solidFill>
            <a:srgbClr val="028090"/>
          </a:solidFill>
          <a:ln/>
        </p:spPr>
      </p:sp>
      <p:sp>
        <p:nvSpPr>
          <p:cNvPr id="12" name="Text 10"/>
          <p:cNvSpPr/>
          <p:nvPr/>
        </p:nvSpPr>
        <p:spPr>
          <a:xfrm>
            <a:off x="1965960" y="2459736"/>
            <a:ext cx="2743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Training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800600" y="2459736"/>
            <a:ext cx="54864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Supervised models trained &amp; validated with Scikit-learn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943600" y="3008376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1737360" y="3118104"/>
            <a:ext cx="8778240" cy="566928"/>
          </a:xfrm>
          <a:prstGeom prst="roundRect">
            <a:avLst>
              <a:gd name="adj" fmla="val 12903"/>
            </a:avLst>
          </a:prstGeom>
          <a:solidFill>
            <a:srgbClr val="00A896"/>
          </a:solidFill>
          <a:ln/>
        </p:spPr>
      </p:sp>
      <p:sp>
        <p:nvSpPr>
          <p:cNvPr id="16" name="Text 14"/>
          <p:cNvSpPr/>
          <p:nvPr/>
        </p:nvSpPr>
        <p:spPr>
          <a:xfrm>
            <a:off x="1965960" y="3118104"/>
            <a:ext cx="2743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 &amp; Evaluation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800600" y="3118104"/>
            <a:ext cx="54864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prediction scored via accuracy, precision, recall, F1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943600" y="3666744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1737360" y="3776472"/>
            <a:ext cx="8778240" cy="566928"/>
          </a:xfrm>
          <a:prstGeom prst="roundRect">
            <a:avLst>
              <a:gd name="adj" fmla="val 12903"/>
            </a:avLst>
          </a:prstGeom>
          <a:solidFill>
            <a:srgbClr val="028090"/>
          </a:solidFill>
          <a:ln/>
        </p:spPr>
      </p:sp>
      <p:sp>
        <p:nvSpPr>
          <p:cNvPr id="20" name="Text 18"/>
          <p:cNvSpPr/>
          <p:nvPr/>
        </p:nvSpPr>
        <p:spPr>
          <a:xfrm>
            <a:off x="1965960" y="3776472"/>
            <a:ext cx="2743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Visualization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800600" y="3776472"/>
            <a:ext cx="54864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Charts and summaries via Matplotlib &amp; Seaborn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943600" y="4325112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1737360" y="4434840"/>
            <a:ext cx="8778240" cy="566928"/>
          </a:xfrm>
          <a:prstGeom prst="roundRect">
            <a:avLst>
              <a:gd name="adj" fmla="val 12903"/>
            </a:avLst>
          </a:prstGeom>
          <a:solidFill>
            <a:srgbClr val="00A896"/>
          </a:solidFill>
          <a:ln/>
        </p:spPr>
      </p:sp>
      <p:sp>
        <p:nvSpPr>
          <p:cNvPr id="24" name="Text 22"/>
          <p:cNvSpPr/>
          <p:nvPr/>
        </p:nvSpPr>
        <p:spPr>
          <a:xfrm>
            <a:off x="1965960" y="4434840"/>
            <a:ext cx="2743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800600" y="4434840"/>
            <a:ext cx="54864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Tkinter dashboard displaying results &amp; insights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943600" y="498348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1737360" y="5093208"/>
            <a:ext cx="8778240" cy="566928"/>
          </a:xfrm>
          <a:prstGeom prst="roundRect">
            <a:avLst>
              <a:gd name="adj" fmla="val 12903"/>
            </a:avLst>
          </a:prstGeom>
          <a:solidFill>
            <a:srgbClr val="028090"/>
          </a:solidFill>
          <a:ln/>
        </p:spPr>
      </p:sp>
      <p:sp>
        <p:nvSpPr>
          <p:cNvPr id="28" name="Text 26"/>
          <p:cNvSpPr/>
          <p:nvPr/>
        </p:nvSpPr>
        <p:spPr>
          <a:xfrm>
            <a:off x="1965960" y="5093208"/>
            <a:ext cx="2743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 &amp; Collaboration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4800600" y="5093208"/>
            <a:ext cx="54864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 storage; Git &amp; GitHub version control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223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515600" y="5029200"/>
            <a:ext cx="3200400" cy="3200400"/>
          </a:xfrm>
          <a:prstGeom prst="ellipse">
            <a:avLst/>
          </a:prstGeom>
          <a:solidFill>
            <a:srgbClr val="028090">
              <a:alpha val="32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Methodology — 4-Week Timeline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2606040" cy="3931920"/>
          </a:xfrm>
          <a:prstGeom prst="roundRect">
            <a:avLst>
              <a:gd name="adj" fmla="val 3509"/>
            </a:avLst>
          </a:prstGeom>
          <a:solidFill>
            <a:srgbClr val="1B3654"/>
          </a:solidFill>
          <a:ln/>
        </p:spPr>
      </p:sp>
      <p:sp>
        <p:nvSpPr>
          <p:cNvPr id="5" name="Shape 3"/>
          <p:cNvSpPr/>
          <p:nvPr/>
        </p:nvSpPr>
        <p:spPr>
          <a:xfrm>
            <a:off x="1577340" y="1371600"/>
            <a:ext cx="640080" cy="64008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6" name="Text 4"/>
          <p:cNvSpPr/>
          <p:nvPr/>
        </p:nvSpPr>
        <p:spPr>
          <a:xfrm>
            <a:off x="1577340" y="13716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2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685800" y="2148840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85800" y="2514600"/>
            <a:ext cx="2331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Onboarding &amp; Fundamentals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731520" y="3291840"/>
            <a:ext cx="224028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F4F7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 induction; Python &amp; core ML concepts — supervised learning, evaluation metrics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337560" y="1691640"/>
            <a:ext cx="2606040" cy="3931920"/>
          </a:xfrm>
          <a:prstGeom prst="roundRect">
            <a:avLst>
              <a:gd name="adj" fmla="val 3509"/>
            </a:avLst>
          </a:prstGeom>
          <a:solidFill>
            <a:srgbClr val="1B3654"/>
          </a:solidFill>
          <a:ln/>
        </p:spPr>
      </p:sp>
      <p:sp>
        <p:nvSpPr>
          <p:cNvPr id="11" name="Shape 9"/>
          <p:cNvSpPr/>
          <p:nvPr/>
        </p:nvSpPr>
        <p:spPr>
          <a:xfrm>
            <a:off x="4366260" y="1371600"/>
            <a:ext cx="640080" cy="64008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2" name="Text 10"/>
          <p:cNvSpPr/>
          <p:nvPr/>
        </p:nvSpPr>
        <p:spPr>
          <a:xfrm>
            <a:off x="4366260" y="13716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2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3474720" y="2148840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2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474720" y="2514600"/>
            <a:ext cx="2331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&amp; Exploratory Analysis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3520440" y="3291840"/>
            <a:ext cx="224028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F4F7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NumPy/Pandas for cleaning &amp; aggregation; EDA and visualization with Matplotlib/Seaborn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126480" y="1691640"/>
            <a:ext cx="2606040" cy="3931920"/>
          </a:xfrm>
          <a:prstGeom prst="roundRect">
            <a:avLst>
              <a:gd name="adj" fmla="val 3509"/>
            </a:avLst>
          </a:prstGeom>
          <a:solidFill>
            <a:srgbClr val="1B3654"/>
          </a:solidFill>
          <a:ln/>
        </p:spPr>
      </p:sp>
      <p:sp>
        <p:nvSpPr>
          <p:cNvPr id="17" name="Shape 15"/>
          <p:cNvSpPr/>
          <p:nvPr/>
        </p:nvSpPr>
        <p:spPr>
          <a:xfrm>
            <a:off x="7155180" y="1371600"/>
            <a:ext cx="640080" cy="64008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8" name="Text 16"/>
          <p:cNvSpPr/>
          <p:nvPr/>
        </p:nvSpPr>
        <p:spPr>
          <a:xfrm>
            <a:off x="7155180" y="13716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2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6263640" y="2148840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3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263640" y="2514600"/>
            <a:ext cx="2331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Core Model Development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6309360" y="3291840"/>
            <a:ext cx="224028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F4F7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 pipeline built; trained &amp; compared Logistic Regression, Decision Tree, Random Forest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8915400" y="1691640"/>
            <a:ext cx="2606040" cy="3931920"/>
          </a:xfrm>
          <a:prstGeom prst="roundRect">
            <a:avLst>
              <a:gd name="adj" fmla="val 3509"/>
            </a:avLst>
          </a:prstGeom>
          <a:solidFill>
            <a:srgbClr val="1B3654"/>
          </a:solidFill>
          <a:ln/>
        </p:spPr>
      </p:sp>
      <p:sp>
        <p:nvSpPr>
          <p:cNvPr id="23" name="Shape 21"/>
          <p:cNvSpPr/>
          <p:nvPr/>
        </p:nvSpPr>
        <p:spPr>
          <a:xfrm>
            <a:off x="9944100" y="1371600"/>
            <a:ext cx="640080" cy="64008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4" name="Text 22"/>
          <p:cNvSpPr/>
          <p:nvPr/>
        </p:nvSpPr>
        <p:spPr>
          <a:xfrm>
            <a:off x="9944100" y="13716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2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9052560" y="2148840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4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9052560" y="2514600"/>
            <a:ext cx="2331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Evaluation, GUI &amp; Finalisation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9098280" y="3291840"/>
            <a:ext cx="224028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F4F7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evaluation via precision/recall/F1; Tkinter GUI; testing, docs, final walkthrough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2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Expected Outcomes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08176"/>
            <a:ext cx="310896" cy="31089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408176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987552" y="1325880"/>
            <a:ext cx="4892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exposure to a structured ML product-engineering team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172200" y="1408176"/>
            <a:ext cx="310896" cy="310896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7" name="Text 5"/>
          <p:cNvSpPr/>
          <p:nvPr/>
        </p:nvSpPr>
        <p:spPr>
          <a:xfrm>
            <a:off x="6172200" y="1408176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11112" y="1325880"/>
            <a:ext cx="4892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Enhanced skills in preprocessing &amp; evaluation using Scikit-learn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1993392"/>
            <a:ext cx="310896" cy="31089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199339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987552" y="1911096"/>
            <a:ext cx="4892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Proficiency in training &amp; selecting supervised learning models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172200" y="1993392"/>
            <a:ext cx="310896" cy="31089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3" name="Text 11"/>
          <p:cNvSpPr/>
          <p:nvPr/>
        </p:nvSpPr>
        <p:spPr>
          <a:xfrm>
            <a:off x="6172200" y="199339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611112" y="1911096"/>
            <a:ext cx="4892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Improved analytical &amp; problem-solving skills under deadlines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" y="2578608"/>
            <a:ext cx="310896" cy="310896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2578608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987552" y="2496312"/>
            <a:ext cx="4892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 predictive analytics for real-world healthcare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172200" y="2578608"/>
            <a:ext cx="310896" cy="31089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9" name="Text 17"/>
          <p:cNvSpPr/>
          <p:nvPr/>
        </p:nvSpPr>
        <p:spPr>
          <a:xfrm>
            <a:off x="6172200" y="2578608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611112" y="2496312"/>
            <a:ext cx="4892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 GUI design experience for ML applications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48640" y="3163824"/>
            <a:ext cx="310896" cy="31089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2" name="Text 20"/>
          <p:cNvSpPr/>
          <p:nvPr/>
        </p:nvSpPr>
        <p:spPr>
          <a:xfrm>
            <a:off x="548640" y="3163824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987552" y="3081528"/>
            <a:ext cx="4892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Strengthened Git &amp; GitHub version-control practices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172200" y="3163824"/>
            <a:ext cx="310896" cy="310896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25" name="Text 23"/>
          <p:cNvSpPr/>
          <p:nvPr/>
        </p:nvSpPr>
        <p:spPr>
          <a:xfrm>
            <a:off x="6172200" y="3163824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611112" y="3081528"/>
            <a:ext cx="4892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in end-to-end feature development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548640" y="3749040"/>
            <a:ext cx="310896" cy="31089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8" name="Text 26"/>
          <p:cNvSpPr/>
          <p:nvPr/>
        </p:nvSpPr>
        <p:spPr>
          <a:xfrm>
            <a:off x="548640" y="374904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987552" y="3666744"/>
            <a:ext cx="4892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academic knowledge in a real ML engineering setting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6172200" y="3749040"/>
            <a:ext cx="310896" cy="31089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1" name="Text 29"/>
          <p:cNvSpPr/>
          <p:nvPr/>
        </p:nvSpPr>
        <p:spPr>
          <a:xfrm>
            <a:off x="6172200" y="374904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6611112" y="3666744"/>
            <a:ext cx="4892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Improved professional competencies for future career growth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223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Internship Completion Certificate</a:t>
            </a:r>
            <a:endParaRPr lang="en-US" sz="2800" dirty="0"/>
          </a:p>
        </p:txBody>
      </p:sp>
      <p:pic>
        <p:nvPicPr>
          <p:cNvPr id="3" name="Image 0" descr="/home/claude/certifica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89504" y="1417320"/>
            <a:ext cx="6400800" cy="4434840"/>
          </a:xfrm>
          <a:prstGeom prst="rect">
            <a:avLst/>
          </a:prstGeom>
          <a:effectLst>
            <a:outerShdw sx="100000" sy="100000" kx="0" ky="0" algn="bl" rotWithShape="0" blurRad="152400" dist="50800" dir="5400000">
              <a:srgbClr val="000000">
                <a:alpha val="40000"/>
              </a:srgbClr>
            </a:outerShdw>
          </a:effectLst>
        </p:spPr>
      </p:pic>
      <p:sp>
        <p:nvSpPr>
          <p:cNvPr id="4" name="Text 1"/>
          <p:cNvSpPr/>
          <p:nvPr/>
        </p:nvSpPr>
        <p:spPr>
          <a:xfrm>
            <a:off x="548640" y="603504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Issued by Codec Technologies Pvt. Ltd. • Verified via QR • Signed by Dr. Anurag Shrivastava, Program Manager</a:t>
            </a:r>
            <a:endParaRPr lang="en-US" sz="11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223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86800" y="-1645920"/>
            <a:ext cx="4572000" cy="4572000"/>
          </a:xfrm>
          <a:prstGeom prst="ellipse">
            <a:avLst/>
          </a:prstGeom>
          <a:solidFill>
            <a:srgbClr val="028090">
              <a:alpha val="3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828800" y="4114800"/>
            <a:ext cx="4114800" cy="4114800"/>
          </a:xfrm>
          <a:prstGeom prst="ellipse">
            <a:avLst/>
          </a:prstGeom>
          <a:solidFill>
            <a:srgbClr val="02C39A">
              <a:alpha val="2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2377440"/>
            <a:ext cx="10515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800" dirty="0"/>
          </a:p>
        </p:txBody>
      </p:sp>
      <p:sp>
        <p:nvSpPr>
          <p:cNvPr id="5" name="Shape 3"/>
          <p:cNvSpPr/>
          <p:nvPr/>
        </p:nvSpPr>
        <p:spPr>
          <a:xfrm>
            <a:off x="868680" y="3429000"/>
            <a:ext cx="1828800" cy="0"/>
          </a:xfrm>
          <a:prstGeom prst="line">
            <a:avLst/>
          </a:prstGeom>
          <a:noFill/>
          <a:ln w="31750">
            <a:solidFill>
              <a:srgbClr val="02C39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361188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F4F7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MEDIVISION — Machine Learning Internship at Codec Technologies Pvt. Ltd.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22960" y="4114800"/>
            <a:ext cx="9601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Aditya Raghav  |  25SCS1003000812  |  Section 2CSE23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2026-09-19T10:40:36Z</dcterms:created>
  <dcterms:modified xsi:type="dcterms:W3CDTF">2026-09-19T10:40:36Z</dcterms:modified>
</cp:coreProperties>
</file>